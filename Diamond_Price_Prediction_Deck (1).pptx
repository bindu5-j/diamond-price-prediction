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Price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carat</c:v>
                  </c:pt>
                  <c:pt idx="1">
                    <c:v>x</c:v>
                  </c:pt>
                  <c:pt idx="2">
                    <c:v>y</c:v>
                  </c:pt>
                  <c:pt idx="3">
                    <c:v>z</c:v>
                  </c:pt>
                  <c:pt idx="4">
                    <c:v>table</c:v>
                  </c:pt>
                  <c:pt idx="5">
                    <c:v>depth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0.922</c:v>
                </c:pt>
                <c:pt idx="1">
                  <c:v>0.884</c:v>
                </c:pt>
                <c:pt idx="2">
                  <c:v>0.865</c:v>
                </c:pt>
                <c:pt idx="3">
                  <c:v>0.861</c:v>
                </c:pt>
                <c:pt idx="4">
                  <c:v>0.127</c:v>
                </c:pt>
                <c:pt idx="5">
                  <c:v>-0.011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1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Average Price by Cut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Premium</c:v>
                  </c:pt>
                  <c:pt idx="1">
                    <c:v>Fair</c:v>
                  </c:pt>
                  <c:pt idx="2">
                    <c:v>Very Good</c:v>
                  </c:pt>
                  <c:pt idx="3">
                    <c:v>Good</c:v>
                  </c:pt>
                  <c:pt idx="4">
                    <c:v>Ideal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4584</c:v>
                </c:pt>
                <c:pt idx="1">
                  <c:v>4359</c:v>
                </c:pt>
                <c:pt idx="2">
                  <c:v>3982</c:v>
                </c:pt>
                <c:pt idx="3">
                  <c:v>3929</c:v>
                </c:pt>
                <c:pt idx="4">
                  <c:v>3458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Average Price by Color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6B4F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</c:v>
                  </c:pt>
                  <c:pt idx="1">
                    <c:v>I</c:v>
                  </c:pt>
                  <c:pt idx="2">
                    <c:v>H</c:v>
                  </c:pt>
                  <c:pt idx="3">
                    <c:v>G</c:v>
                  </c:pt>
                  <c:pt idx="4">
                    <c:v>F</c:v>
                  </c:pt>
                  <c:pt idx="5">
                    <c:v>D</c:v>
                  </c:pt>
                  <c:pt idx="6">
                    <c:v>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5324</c:v>
                </c:pt>
                <c:pt idx="1">
                  <c:v>5092</c:v>
                </c:pt>
                <c:pt idx="2">
                  <c:v>4487</c:v>
                </c:pt>
                <c:pt idx="3">
                  <c:v>3999</c:v>
                </c:pt>
                <c:pt idx="4">
                  <c:v>3725</c:v>
                </c:pt>
                <c:pt idx="5">
                  <c:v>3170</c:v>
                </c:pt>
                <c:pt idx="6">
                  <c:v>3077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Average Price by Clarity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SI2</c:v>
                  </c:pt>
                  <c:pt idx="1">
                    <c:v>SI1</c:v>
                  </c:pt>
                  <c:pt idx="2">
                    <c:v>VS2</c:v>
                  </c:pt>
                  <c:pt idx="3">
                    <c:v>I1</c:v>
                  </c:pt>
                  <c:pt idx="4">
                    <c:v>VS1</c:v>
                  </c:pt>
                  <c:pt idx="5">
                    <c:v>VVS2</c:v>
                  </c:pt>
                  <c:pt idx="6">
                    <c:v>IF</c:v>
                  </c:pt>
                  <c:pt idx="7">
                    <c:v>VVS1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5063</c:v>
                </c:pt>
                <c:pt idx="1">
                  <c:v>3996</c:v>
                </c:pt>
                <c:pt idx="2">
                  <c:v>3925</c:v>
                </c:pt>
                <c:pt idx="3">
                  <c:v>3924</c:v>
                </c:pt>
                <c:pt idx="4">
                  <c:v>3839</c:v>
                </c:pt>
                <c:pt idx="5">
                  <c:v>3284</c:v>
                </c:pt>
                <c:pt idx="6">
                  <c:v>2865</c:v>
                </c:pt>
                <c:pt idx="7">
                  <c:v>2523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R² Score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Linear Regression</c:v>
                  </c:pt>
                  <c:pt idx="1">
                    <c:v>Ridge Regression</c:v>
                  </c:pt>
                  <c:pt idx="2">
                    <c:v>Lasso Regression</c:v>
                  </c:pt>
                  <c:pt idx="3">
                    <c:v>Elastic Net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0.8732</c:v>
                </c:pt>
                <c:pt idx="1">
                  <c:v>0.8732</c:v>
                </c:pt>
                <c:pt idx="2">
                  <c:v>0.8732</c:v>
                </c:pt>
                <c:pt idx="3">
                  <c:v>0.8628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8"/>
          <c:min val="0.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06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2A3574"/>
          </a:solidFill>
          <a:ln/>
        </p:spPr>
      </p:sp>
      <p:pic>
        <p:nvPicPr>
          <p:cNvPr id="5" name="Image 0" descr="icons/gem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09956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Diamond Price Prediction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the true drivers of diamond price and building a regression model to predict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937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53,940 Diamonds Analyzed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Regression Models Compared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Linear Regression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602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ons/db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" y="190423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727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Understanding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00200" y="196596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shape, quality, and cleaning steps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176022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ons/cha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538" y="1904238"/>
            <a:ext cx="352044" cy="352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5727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Exploratory Analysis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269480" y="196596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diamond price — carat, cut, color, clarity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4518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ons/brai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3595878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2644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 Building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00200" y="365760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regression models trained and compared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217920" y="30632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46520" y="34518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icons/calc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538" y="3595878"/>
            <a:ext cx="352044" cy="3520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9480" y="32644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Evaluation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269480" y="365760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R² — selecting the best model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47548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7240" y="51435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4" descr="icons/targe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258" y="5287518"/>
            <a:ext cx="352044" cy="3520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495604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Prediction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600200" y="534924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price for a new diamond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217920" y="47548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446520" y="51435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5" descr="icons/bulb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538" y="5287518"/>
            <a:ext cx="352044" cy="3520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69480" y="495604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7269480" y="534924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recommendations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Price Prediction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53,940 diamonds — carat, cut, color, clarity, proportions, and price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53,940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963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8288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4963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4963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8288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50,400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4963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After Cleaning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(target)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●"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z (mm)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3520440"/>
            <a:ext cx="5577840" cy="2788920"/>
          </a:xfrm>
          <a:prstGeom prst="roundRect">
            <a:avLst>
              <a:gd name="adj" fmla="val 2623"/>
            </a:avLst>
          </a:prstGeom>
          <a:solidFill>
            <a:srgbClr val="F7F8FC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Steps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41605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buSzPct val="100000"/>
              <a:buChar char="✓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found</a:t>
            </a:r>
            <a:endParaRPr lang="en-US" sz="1200" dirty="0"/>
          </a:p>
          <a:p>
            <a:pPr marL="342900" indent="-342900">
              <a:lnSpc>
                <a:spcPts val="2100"/>
              </a:lnSpc>
              <a:buSzPct val="100000"/>
              <a:buChar char="✓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duplicate records removed</a:t>
            </a:r>
            <a:endParaRPr lang="en-US" sz="1200" dirty="0"/>
          </a:p>
          <a:p>
            <a:pPr marL="342900" indent="-342900">
              <a:lnSpc>
                <a:spcPts val="2100"/>
              </a:lnSpc>
              <a:buSzPct val="100000"/>
              <a:buChar char="✓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outliers removed via IQR rule (1.5× IQR)</a:t>
            </a:r>
            <a:endParaRPr lang="en-US" sz="1200" dirty="0"/>
          </a:p>
          <a:p>
            <a:pPr marL="342900" indent="-342900">
              <a:lnSpc>
                <a:spcPts val="2100"/>
              </a:lnSpc>
              <a:buSzPct val="100000"/>
              <a:buChar char="✓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 label-encoded (cut, color, clarity)</a:t>
            </a:r>
            <a:endParaRPr lang="en-US" sz="1200" dirty="0"/>
          </a:p>
          <a:p>
            <a:pPr marL="342900" indent="-342900">
              <a:lnSpc>
                <a:spcPts val="2100"/>
              </a:lnSpc>
              <a:buSzPct val="100000"/>
              <a:buChar char="✓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standardized (StandardScaler)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Price Prediction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&amp; Carat Distribution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diamonds are modestly priced and modestly sized — the distributions are right-skewed</a:t>
            </a:r>
            <a:endParaRPr lang="en-US" sz="1250" dirty="0"/>
          </a:p>
        </p:txBody>
      </p:sp>
      <p:pic>
        <p:nvPicPr>
          <p:cNvPr id="4" name="Image 0" descr="images/01_price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486400" cy="3429000"/>
          </a:xfrm>
          <a:prstGeom prst="rect">
            <a:avLst/>
          </a:prstGeom>
        </p:spPr>
      </p:pic>
      <p:pic>
        <p:nvPicPr>
          <p:cNvPr id="5" name="Image 1" descr="images/02_carat_d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3429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525780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under $5,000, with a long tail of high-value diamonds.   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Carat: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diamonds fall between 0.2 and 1.5 carats.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Price Prediction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Q1. What Drives Diamond Price the Most?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Image 0" descr="images/07_corr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143000"/>
            <a:ext cx="5303520" cy="41148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54864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6" name="Text 2"/>
          <p:cNvSpPr/>
          <p:nvPr/>
        </p:nvSpPr>
        <p:spPr>
          <a:xfrm>
            <a:off x="731520" y="56235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the strongest correlation with price (r = 0.92) — the single most influential feature.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Price Prediction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Q2. Does Higher Carat Always Mean Higher Price?</a:t>
            </a:r>
            <a:endParaRPr lang="en-US" sz="2600" dirty="0"/>
          </a:p>
        </p:txBody>
      </p:sp>
      <p:pic>
        <p:nvPicPr>
          <p:cNvPr id="3" name="Image 0" descr="images/03_carat_vs_pr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4864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12801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Generally, yes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0" y="178308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 and price move strongly together — the scatter plot shows a clear positive, though non-linear, relationship.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0" y="274320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always at the individual level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0" y="3246120"/>
            <a:ext cx="5257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same carat weight, price still varies considerably based on cut, color, and clarity. Carat is the dominant driver, not the only one.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443484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4562856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icons/gem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4722876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448056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diamonds of equal carat can differ by thousands of dollars based on quality grade.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Price Prediction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Q3–Q5. Price by Cut, Color &amp; Clarity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3794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251960" y="1051560"/>
          <a:ext cx="3794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2" descr=""/>
          <p:cNvGraphicFramePr/>
          <p:nvPr/>
        </p:nvGraphicFramePr>
        <p:xfrm>
          <a:off x="8138160" y="1051560"/>
          <a:ext cx="3794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Shape 1"/>
          <p:cNvSpPr/>
          <p:nvPr/>
        </p:nvSpPr>
        <p:spPr>
          <a:xfrm>
            <a:off x="365760" y="4937760"/>
            <a:ext cx="11521440" cy="1417320"/>
          </a:xfrm>
          <a:prstGeom prst="roundRect">
            <a:avLst>
              <a:gd name="adj" fmla="val 5161"/>
            </a:avLst>
          </a:prstGeom>
          <a:solidFill>
            <a:srgbClr val="F7F8FC"/>
          </a:solidFill>
          <a:ln/>
        </p:spPr>
      </p:sp>
      <p:sp>
        <p:nvSpPr>
          <p:cNvPr id="7" name="Text 2"/>
          <p:cNvSpPr/>
          <p:nvPr/>
        </p:nvSpPr>
        <p:spPr>
          <a:xfrm>
            <a:off x="640080" y="50749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 at first glance: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cut, J color, and SI2 clarity show the highest averages — not the “best” grades. This is </a:t>
            </a:r>
            <a:pPr indent="0" marL="0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carat-weight confounding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larger, heavier stones in this dataset happen to carry these grades more often, pulling their average price up. Holding carat constant, better cut/color/clarity still commands a premium.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Price Prediction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trained, evaluated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706880" cy="3017520"/>
          </a:xfrm>
          <a:prstGeom prst="roundRect">
            <a:avLst>
              <a:gd name="adj" fmla="val 4286"/>
            </a:avLst>
          </a:prstGeom>
          <a:solidFill>
            <a:srgbClr val="2730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0"/>
            <a:ext cx="170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52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3474720"/>
            <a:ext cx="14874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&amp; price outliers (IQR)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64080" y="33832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65248" y="2103120"/>
            <a:ext cx="1706880" cy="3017520"/>
          </a:xfrm>
          <a:prstGeom prst="roundRect">
            <a:avLst>
              <a:gd name="adj" fmla="val 4286"/>
            </a:avLst>
          </a:prstGeom>
          <a:solidFill>
            <a:srgbClr val="27306B"/>
          </a:solidFill>
          <a:ln/>
        </p:spPr>
      </p:sp>
      <p:sp>
        <p:nvSpPr>
          <p:cNvPr id="10" name="Text 8"/>
          <p:cNvSpPr/>
          <p:nvPr/>
        </p:nvSpPr>
        <p:spPr>
          <a:xfrm>
            <a:off x="2365248" y="2286000"/>
            <a:ext cx="170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6688" y="3017520"/>
            <a:ext cx="152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74976" y="3474720"/>
            <a:ext cx="14874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 cut, color, clarity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72128" y="33832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73296" y="2103120"/>
            <a:ext cx="1706880" cy="3017520"/>
          </a:xfrm>
          <a:prstGeom prst="roundRect">
            <a:avLst>
              <a:gd name="adj" fmla="val 4286"/>
            </a:avLst>
          </a:prstGeom>
          <a:solidFill>
            <a:srgbClr val="27306B"/>
          </a:solidFill>
          <a:ln/>
        </p:spPr>
      </p:sp>
      <p:sp>
        <p:nvSpPr>
          <p:cNvPr id="15" name="Text 13"/>
          <p:cNvSpPr/>
          <p:nvPr/>
        </p:nvSpPr>
        <p:spPr>
          <a:xfrm>
            <a:off x="4273296" y="2286000"/>
            <a:ext cx="170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364736" y="3017520"/>
            <a:ext cx="152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3024" y="3474720"/>
            <a:ext cx="14874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all features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0176" y="33832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81344" y="2103120"/>
            <a:ext cx="1706880" cy="3017520"/>
          </a:xfrm>
          <a:prstGeom prst="roundRect">
            <a:avLst>
              <a:gd name="adj" fmla="val 4286"/>
            </a:avLst>
          </a:prstGeom>
          <a:solidFill>
            <a:srgbClr val="27306B"/>
          </a:solidFill>
          <a:ln/>
        </p:spPr>
      </p:sp>
      <p:sp>
        <p:nvSpPr>
          <p:cNvPr id="20" name="Text 18"/>
          <p:cNvSpPr/>
          <p:nvPr/>
        </p:nvSpPr>
        <p:spPr>
          <a:xfrm>
            <a:off x="6181344" y="2286000"/>
            <a:ext cx="170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72784" y="3017520"/>
            <a:ext cx="152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91072" y="3474720"/>
            <a:ext cx="14874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88224" y="33832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89392" y="2103120"/>
            <a:ext cx="1706880" cy="3017520"/>
          </a:xfrm>
          <a:prstGeom prst="roundRect">
            <a:avLst>
              <a:gd name="adj" fmla="val 4286"/>
            </a:avLst>
          </a:prstGeom>
          <a:solidFill>
            <a:srgbClr val="27306B"/>
          </a:solidFill>
          <a:ln/>
        </p:spPr>
      </p:sp>
      <p:sp>
        <p:nvSpPr>
          <p:cNvPr id="25" name="Text 23"/>
          <p:cNvSpPr/>
          <p:nvPr/>
        </p:nvSpPr>
        <p:spPr>
          <a:xfrm>
            <a:off x="8089392" y="2286000"/>
            <a:ext cx="170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180832" y="3017520"/>
            <a:ext cx="152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99120" y="3474720"/>
            <a:ext cx="14874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regression models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96272" y="33832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997440" y="2103120"/>
            <a:ext cx="1706880" cy="3017520"/>
          </a:xfrm>
          <a:prstGeom prst="roundRect">
            <a:avLst>
              <a:gd name="adj" fmla="val 4286"/>
            </a:avLst>
          </a:prstGeom>
          <a:solidFill>
            <a:srgbClr val="27306B"/>
          </a:solidFill>
          <a:ln/>
        </p:spPr>
      </p:sp>
      <p:sp>
        <p:nvSpPr>
          <p:cNvPr id="30" name="Text 28"/>
          <p:cNvSpPr/>
          <p:nvPr/>
        </p:nvSpPr>
        <p:spPr>
          <a:xfrm>
            <a:off x="9997440" y="2286000"/>
            <a:ext cx="170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0088880" y="3017520"/>
            <a:ext cx="152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107168" y="3474720"/>
            <a:ext cx="14874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R², Adj. R²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Linear Regression · Ridge · Lasso · Elastic Net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Price Prediction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Q6. Which Model Performs Best?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371600"/>
          <a:ext cx="5120640" cy="219456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1051560"/>
                <a:gridCol w="10972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 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Net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583680" y="379476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6" name="Text 2"/>
          <p:cNvSpPr/>
          <p:nvPr/>
        </p:nvSpPr>
        <p:spPr>
          <a:xfrm>
            <a:off x="6858000" y="3931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858000" y="4389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0.873  ·  RMSE = $967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858000" y="48006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performance, nearly tied with Ridge &amp; Lasso — regularization added little value with only 9 predictors.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Price Prediction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Diagnostics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Regression: how well predictions track actual prices</a:t>
            </a:r>
            <a:endParaRPr lang="en-US" sz="1300" dirty="0"/>
          </a:p>
        </p:txBody>
      </p:sp>
      <p:pic>
        <p:nvPicPr>
          <p:cNvPr id="4" name="Image 0" descr="images/08_actual_vs_p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394960" cy="4297680"/>
          </a:xfrm>
          <a:prstGeom prst="rect">
            <a:avLst/>
          </a:prstGeom>
        </p:spPr>
      </p:pic>
      <p:pic>
        <p:nvPicPr>
          <p:cNvPr id="5" name="Image 1" descr="images/09_residu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94960" cy="4297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8064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closely track actual prices along the diagonal.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263640" y="58064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widen at higher prices — less precision for luxury-tier diamonds.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Price Prediction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28600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Q7. Predicting a New Diamond's Price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669280" cy="4480560"/>
          </a:xfrm>
          <a:prstGeom prst="roundRect">
            <a:avLst>
              <a:gd name="adj" fmla="val 1633"/>
            </a:avLst>
          </a:prstGeom>
          <a:solidFill>
            <a:srgbClr val="27306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057400"/>
          <a:ext cx="5029200" cy="3474720"/>
        </p:xfrm>
        <a:graphic>
          <a:graphicData uri="http://schemas.openxmlformats.org/drawingml/2006/table">
            <a:tbl>
              <a:tblPr/>
              <a:tblGrid>
                <a:gridCol w="2766060"/>
                <a:gridCol w="226314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306B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306B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306B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306B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306B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306B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/ y / z (mm)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6.82 / 6.79 / 4.20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306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92240" y="128016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8572500" y="1645920"/>
            <a:ext cx="1005840" cy="1005840"/>
          </a:xfrm>
          <a:prstGeom prst="ellipse">
            <a:avLst/>
          </a:prstGeom>
          <a:solidFill>
            <a:srgbClr val="B8931F"/>
          </a:solidFill>
          <a:ln/>
        </p:spPr>
      </p:sp>
      <p:pic>
        <p:nvPicPr>
          <p:cNvPr id="9" name="Image 0" descr="icons/ge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8814" y="1872234"/>
            <a:ext cx="553212" cy="5532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2240" y="288036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Price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92240" y="329184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$6,803.60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6492240" y="43434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$967 (typical model error)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949440" y="4892040"/>
            <a:ext cx="4251960" cy="18288"/>
          </a:xfrm>
          <a:prstGeom prst="rect">
            <a:avLst/>
          </a:prstGeom>
          <a:solidFill>
            <a:srgbClr val="E8C860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0" y="507492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using the trained Linear Regression model on encoded, scaled inputs.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Price Prediction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54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icons/gem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691" y="168821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361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 rules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14884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 weight is overwhelmingly the strongest single driver of diamond price — weight it most heavily in any pricing tool.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55080" y="12801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  <a:ln/>
        </p:spPr>
      </p:sp>
      <p:sp>
        <p:nvSpPr>
          <p:cNvPr id="9" name="Shape 6"/>
          <p:cNvSpPr/>
          <p:nvPr/>
        </p:nvSpPr>
        <p:spPr>
          <a:xfrm>
            <a:off x="6629400" y="1554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icons/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131" y="168821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5361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secondary — and confounded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675120" y="214884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Cut, color, and clarity have real but secondary effects; raw averages are confounded by carat and should be read alongside it.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0233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icons/brai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" y="4157091"/>
            <a:ext cx="326898" cy="3268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0050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wins, narrowly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68680" y="461772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gave the best balance of accuracy and interpretability (R² = 0.873); tree ensembles could push this further.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55080" y="3749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  <a:ln/>
        </p:spPr>
      </p:sp>
      <p:sp>
        <p:nvSpPr>
          <p:cNvPr id="19" name="Shape 14"/>
          <p:cNvSpPr/>
          <p:nvPr/>
        </p:nvSpPr>
        <p:spPr>
          <a:xfrm>
            <a:off x="6629400" y="40233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icons/targe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131" y="4157091"/>
            <a:ext cx="326898" cy="3268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40050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tier needs more care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675120" y="461772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 grows for very high-priced diamonds — a separate model or added features (certification, fluorescence) may help.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Price Prediction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Diamond Price Prediction</dc:title>
  <dc:subject>PptxGenJS Presentation</dc:subject>
  <dc:creator>Diamond Price Prediction Project</dc:creator>
  <cp:lastModifiedBy>Diamond Price Prediction Project</cp:lastModifiedBy>
  <cp:revision>1</cp:revision>
  <dcterms:created xsi:type="dcterms:W3CDTF">2026-07-09T06:47:43Z</dcterms:created>
  <dcterms:modified xsi:type="dcterms:W3CDTF">2026-07-09T06:47:43Z</dcterms:modified>
</cp:coreProperties>
</file>